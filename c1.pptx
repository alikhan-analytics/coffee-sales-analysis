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7" r:id="rId1"/>
  </p:sldMasterIdLst>
  <p:sldIdLst>
    <p:sldId id="271" r:id="rId2"/>
    <p:sldId id="257" r:id="rId3"/>
    <p:sldId id="258" r:id="rId4"/>
    <p:sldId id="259" r:id="rId5"/>
    <p:sldId id="260" r:id="rId6"/>
    <p:sldId id="261" r:id="rId7"/>
    <p:sldId id="266" r:id="rId8"/>
    <p:sldId id="267" r:id="rId9"/>
    <p:sldId id="268" r:id="rId10"/>
    <p:sldId id="269" r:id="rId11"/>
    <p:sldId id="273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E6CC"/>
    <a:srgbClr val="E3C9A1"/>
    <a:srgbClr val="FFF9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004BD49-F547-41DF-A31E-88DB80CF2870}" v="236" dt="2026-06-22T09:51:49.7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62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ikhan7415916@outlook.com" userId="8daf0c712caf8d63" providerId="LiveId" clId="{F90A5301-3BF2-4C35-85E9-C60DB70D88F7}"/>
    <pc:docChg chg="undo custSel addSld delSld modSld sldOrd">
      <pc:chgData name="alikhan7415916@outlook.com" userId="8daf0c712caf8d63" providerId="LiveId" clId="{F90A5301-3BF2-4C35-85E9-C60DB70D88F7}" dt="2026-06-22T09:54:46.492" v="1656" actId="20577"/>
      <pc:docMkLst>
        <pc:docMk/>
      </pc:docMkLst>
      <pc:sldChg chg="addSp delSp modSp mod modTransition delAnim modAnim">
        <pc:chgData name="alikhan7415916@outlook.com" userId="8daf0c712caf8d63" providerId="LiveId" clId="{F90A5301-3BF2-4C35-85E9-C60DB70D88F7}" dt="2026-06-20T08:10:31.109" v="1090" actId="207"/>
        <pc:sldMkLst>
          <pc:docMk/>
          <pc:sldMk cId="176685858" sldId="257"/>
        </pc:sldMkLst>
        <pc:spChg chg="add mod">
          <ac:chgData name="alikhan7415916@outlook.com" userId="8daf0c712caf8d63" providerId="LiveId" clId="{F90A5301-3BF2-4C35-85E9-C60DB70D88F7}" dt="2026-06-20T08:01:57.319" v="958" actId="1076"/>
          <ac:spMkLst>
            <pc:docMk/>
            <pc:sldMk cId="176685858" sldId="257"/>
            <ac:spMk id="3" creationId="{3DBEA12C-1ED2-B397-7D7D-2F1651CFBC55}"/>
          </ac:spMkLst>
        </pc:spChg>
        <pc:spChg chg="mod">
          <ac:chgData name="alikhan7415916@outlook.com" userId="8daf0c712caf8d63" providerId="LiveId" clId="{F90A5301-3BF2-4C35-85E9-C60DB70D88F7}" dt="2026-06-20T07:59:14.582" v="911" actId="20577"/>
          <ac:spMkLst>
            <pc:docMk/>
            <pc:sldMk cId="176685858" sldId="257"/>
            <ac:spMk id="5" creationId="{B849513A-19D1-4091-8D7C-1EA77ECF53DB}"/>
          </ac:spMkLst>
        </pc:spChg>
        <pc:spChg chg="add mod">
          <ac:chgData name="alikhan7415916@outlook.com" userId="8daf0c712caf8d63" providerId="LiveId" clId="{F90A5301-3BF2-4C35-85E9-C60DB70D88F7}" dt="2026-06-20T08:10:31.109" v="1090" actId="207"/>
          <ac:spMkLst>
            <pc:docMk/>
            <pc:sldMk cId="176685858" sldId="257"/>
            <ac:spMk id="6" creationId="{3F1C26CC-21F4-E61E-EA76-F5A0E389C5E5}"/>
          </ac:spMkLst>
        </pc:spChg>
        <pc:spChg chg="add mod">
          <ac:chgData name="alikhan7415916@outlook.com" userId="8daf0c712caf8d63" providerId="LiveId" clId="{F90A5301-3BF2-4C35-85E9-C60DB70D88F7}" dt="2026-06-20T08:04:17.875" v="966" actId="207"/>
          <ac:spMkLst>
            <pc:docMk/>
            <pc:sldMk cId="176685858" sldId="257"/>
            <ac:spMk id="7" creationId="{EE9E9413-D3D7-737B-7C9A-257E81D9BDB5}"/>
          </ac:spMkLst>
        </pc:spChg>
      </pc:sldChg>
      <pc:sldChg chg="addSp delSp modSp mod modTransition modAnim">
        <pc:chgData name="alikhan7415916@outlook.com" userId="8daf0c712caf8d63" providerId="LiveId" clId="{F90A5301-3BF2-4C35-85E9-C60DB70D88F7}" dt="2026-06-16T17:01:36.358" v="833"/>
        <pc:sldMkLst>
          <pc:docMk/>
          <pc:sldMk cId="1177396254" sldId="258"/>
        </pc:sldMkLst>
        <pc:spChg chg="add mod">
          <ac:chgData name="alikhan7415916@outlook.com" userId="8daf0c712caf8d63" providerId="LiveId" clId="{F90A5301-3BF2-4C35-85E9-C60DB70D88F7}" dt="2026-06-16T08:49:39.442" v="152" actId="207"/>
          <ac:spMkLst>
            <pc:docMk/>
            <pc:sldMk cId="1177396254" sldId="258"/>
            <ac:spMk id="6" creationId="{C9D6B840-4CDF-78D5-8E37-D30DD3E78A51}"/>
          </ac:spMkLst>
        </pc:spChg>
        <pc:spChg chg="add mod">
          <ac:chgData name="alikhan7415916@outlook.com" userId="8daf0c712caf8d63" providerId="LiveId" clId="{F90A5301-3BF2-4C35-85E9-C60DB70D88F7}" dt="2026-06-16T09:06:35.199" v="261" actId="403"/>
          <ac:spMkLst>
            <pc:docMk/>
            <pc:sldMk cId="1177396254" sldId="258"/>
            <ac:spMk id="7" creationId="{082FC80D-9EBF-7958-70D6-3314B6F9AFA0}"/>
          </ac:spMkLst>
        </pc:spChg>
        <pc:picChg chg="add mod">
          <ac:chgData name="alikhan7415916@outlook.com" userId="8daf0c712caf8d63" providerId="LiveId" clId="{F90A5301-3BF2-4C35-85E9-C60DB70D88F7}" dt="2026-06-16T06:54:02.141" v="40" actId="14100"/>
          <ac:picMkLst>
            <pc:docMk/>
            <pc:sldMk cId="1177396254" sldId="258"/>
            <ac:picMk id="5" creationId="{E2702AF4-64A7-42C4-A7EE-6D36D1F9DE8A}"/>
          </ac:picMkLst>
        </pc:picChg>
      </pc:sldChg>
      <pc:sldChg chg="addSp modSp new mod modTransition modAnim">
        <pc:chgData name="alikhan7415916@outlook.com" userId="8daf0c712caf8d63" providerId="LiveId" clId="{F90A5301-3BF2-4C35-85E9-C60DB70D88F7}" dt="2026-06-16T17:01:53.783" v="842"/>
        <pc:sldMkLst>
          <pc:docMk/>
          <pc:sldMk cId="2212317420" sldId="259"/>
        </pc:sldMkLst>
        <pc:spChg chg="add mod">
          <ac:chgData name="alikhan7415916@outlook.com" userId="8daf0c712caf8d63" providerId="LiveId" clId="{F90A5301-3BF2-4C35-85E9-C60DB70D88F7}" dt="2026-06-16T06:59:43.020" v="86" actId="1076"/>
          <ac:spMkLst>
            <pc:docMk/>
            <pc:sldMk cId="2212317420" sldId="259"/>
            <ac:spMk id="3" creationId="{07686E72-A5E5-18DF-87CF-114BBC541EB7}"/>
          </ac:spMkLst>
        </pc:spChg>
        <pc:spChg chg="add mod">
          <ac:chgData name="alikhan7415916@outlook.com" userId="8daf0c712caf8d63" providerId="LiveId" clId="{F90A5301-3BF2-4C35-85E9-C60DB70D88F7}" dt="2026-06-16T09:20:18.713" v="324" actId="20577"/>
          <ac:spMkLst>
            <pc:docMk/>
            <pc:sldMk cId="2212317420" sldId="259"/>
            <ac:spMk id="4" creationId="{8099D4FF-8555-0F1A-FB8F-748E86F256EF}"/>
          </ac:spMkLst>
        </pc:spChg>
        <pc:picChg chg="add mod">
          <ac:chgData name="alikhan7415916@outlook.com" userId="8daf0c712caf8d63" providerId="LiveId" clId="{F90A5301-3BF2-4C35-85E9-C60DB70D88F7}" dt="2026-06-16T06:58:47.818" v="71" actId="14100"/>
          <ac:picMkLst>
            <pc:docMk/>
            <pc:sldMk cId="2212317420" sldId="259"/>
            <ac:picMk id="2" creationId="{0AFE7AA1-BDFF-2E1E-C33E-847E19A1398E}"/>
          </ac:picMkLst>
        </pc:picChg>
      </pc:sldChg>
      <pc:sldChg chg="addSp modSp new mod modTransition modAnim">
        <pc:chgData name="alikhan7415916@outlook.com" userId="8daf0c712caf8d63" providerId="LiveId" clId="{F90A5301-3BF2-4C35-85E9-C60DB70D88F7}" dt="2026-06-16T17:03:44.510" v="857"/>
        <pc:sldMkLst>
          <pc:docMk/>
          <pc:sldMk cId="1241438822" sldId="260"/>
        </pc:sldMkLst>
        <pc:spChg chg="add mod">
          <ac:chgData name="alikhan7415916@outlook.com" userId="8daf0c712caf8d63" providerId="LiveId" clId="{F90A5301-3BF2-4C35-85E9-C60DB70D88F7}" dt="2026-06-16T07:04:02.887" v="121" actId="403"/>
          <ac:spMkLst>
            <pc:docMk/>
            <pc:sldMk cId="1241438822" sldId="260"/>
            <ac:spMk id="3" creationId="{33B40F75-C587-FBC4-5824-82A9FB4B393E}"/>
          </ac:spMkLst>
        </pc:spChg>
        <pc:spChg chg="add mod">
          <ac:chgData name="alikhan7415916@outlook.com" userId="8daf0c712caf8d63" providerId="LiveId" clId="{F90A5301-3BF2-4C35-85E9-C60DB70D88F7}" dt="2026-06-16T09:05:17.008" v="249" actId="1076"/>
          <ac:spMkLst>
            <pc:docMk/>
            <pc:sldMk cId="1241438822" sldId="260"/>
            <ac:spMk id="4" creationId="{A5F1E344-2FDB-39C9-A3FC-326743675C1E}"/>
          </ac:spMkLst>
        </pc:spChg>
        <pc:picChg chg="add mod">
          <ac:chgData name="alikhan7415916@outlook.com" userId="8daf0c712caf8d63" providerId="LiveId" clId="{F90A5301-3BF2-4C35-85E9-C60DB70D88F7}" dt="2026-06-16T07:02:55.421" v="100"/>
          <ac:picMkLst>
            <pc:docMk/>
            <pc:sldMk cId="1241438822" sldId="260"/>
            <ac:picMk id="2" creationId="{2C9D12BD-B869-AF02-F0D3-19971A2FD7E9}"/>
          </ac:picMkLst>
        </pc:picChg>
      </pc:sldChg>
      <pc:sldChg chg="addSp delSp modSp new mod modTransition setBg">
        <pc:chgData name="alikhan7415916@outlook.com" userId="8daf0c712caf8d63" providerId="LiveId" clId="{F90A5301-3BF2-4C35-85E9-C60DB70D88F7}" dt="2026-06-16T17:03:50.863" v="863"/>
        <pc:sldMkLst>
          <pc:docMk/>
          <pc:sldMk cId="2985520628" sldId="261"/>
        </pc:sldMkLst>
        <pc:picChg chg="add mod">
          <ac:chgData name="alikhan7415916@outlook.com" userId="8daf0c712caf8d63" providerId="LiveId" clId="{F90A5301-3BF2-4C35-85E9-C60DB70D88F7}" dt="2026-06-16T09:09:36.937" v="269" actId="14100"/>
          <ac:picMkLst>
            <pc:docMk/>
            <pc:sldMk cId="2985520628" sldId="261"/>
            <ac:picMk id="4" creationId="{6F43932A-152F-DF5D-6E05-F277D1D3E034}"/>
          </ac:picMkLst>
        </pc:picChg>
      </pc:sldChg>
      <pc:sldChg chg="addSp modSp new mod ord modTransition">
        <pc:chgData name="alikhan7415916@outlook.com" userId="8daf0c712caf8d63" providerId="LiveId" clId="{F90A5301-3BF2-4C35-85E9-C60DB70D88F7}" dt="2026-06-16T17:03:57.716" v="869"/>
        <pc:sldMkLst>
          <pc:docMk/>
          <pc:sldMk cId="1437796982" sldId="266"/>
        </pc:sldMkLst>
        <pc:spChg chg="add mod">
          <ac:chgData name="alikhan7415916@outlook.com" userId="8daf0c712caf8d63" providerId="LiveId" clId="{F90A5301-3BF2-4C35-85E9-C60DB70D88F7}" dt="2026-06-16T10:31:24.569" v="629" actId="1076"/>
          <ac:spMkLst>
            <pc:docMk/>
            <pc:sldMk cId="1437796982" sldId="266"/>
            <ac:spMk id="3" creationId="{651B17E5-1AB9-A1A2-F2AA-694E9E387BBF}"/>
          </ac:spMkLst>
        </pc:spChg>
        <pc:spChg chg="add mod">
          <ac:chgData name="alikhan7415916@outlook.com" userId="8daf0c712caf8d63" providerId="LiveId" clId="{F90A5301-3BF2-4C35-85E9-C60DB70D88F7}" dt="2026-06-16T10:31:16.258" v="628" actId="20577"/>
          <ac:spMkLst>
            <pc:docMk/>
            <pc:sldMk cId="1437796982" sldId="266"/>
            <ac:spMk id="4" creationId="{A7AF5E8D-D340-A2B2-7D58-6486F5D9C400}"/>
          </ac:spMkLst>
        </pc:spChg>
        <pc:picChg chg="add mod">
          <ac:chgData name="alikhan7415916@outlook.com" userId="8daf0c712caf8d63" providerId="LiveId" clId="{F90A5301-3BF2-4C35-85E9-C60DB70D88F7}" dt="2026-06-16T10:27:44.930" v="595"/>
          <ac:picMkLst>
            <pc:docMk/>
            <pc:sldMk cId="1437796982" sldId="266"/>
            <ac:picMk id="2" creationId="{5BE09536-64D0-2EF0-B3B0-C3171734D710}"/>
          </ac:picMkLst>
        </pc:picChg>
      </pc:sldChg>
      <pc:sldChg chg="addSp modSp new mod modTransition">
        <pc:chgData name="alikhan7415916@outlook.com" userId="8daf0c712caf8d63" providerId="LiveId" clId="{F90A5301-3BF2-4C35-85E9-C60DB70D88F7}" dt="2026-06-16T17:04:05.830" v="876"/>
        <pc:sldMkLst>
          <pc:docMk/>
          <pc:sldMk cId="3874553547" sldId="267"/>
        </pc:sldMkLst>
        <pc:spChg chg="add mod">
          <ac:chgData name="alikhan7415916@outlook.com" userId="8daf0c712caf8d63" providerId="LiveId" clId="{F90A5301-3BF2-4C35-85E9-C60DB70D88F7}" dt="2026-06-16T10:34:42.402" v="659" actId="1076"/>
          <ac:spMkLst>
            <pc:docMk/>
            <pc:sldMk cId="3874553547" sldId="267"/>
            <ac:spMk id="3" creationId="{06EE62E5-1521-9005-455A-7F615CA95BE9}"/>
          </ac:spMkLst>
        </pc:spChg>
        <pc:spChg chg="add mod">
          <ac:chgData name="alikhan7415916@outlook.com" userId="8daf0c712caf8d63" providerId="LiveId" clId="{F90A5301-3BF2-4C35-85E9-C60DB70D88F7}" dt="2026-06-16T10:34:31.476" v="658" actId="1076"/>
          <ac:spMkLst>
            <pc:docMk/>
            <pc:sldMk cId="3874553547" sldId="267"/>
            <ac:spMk id="4" creationId="{5973724E-F94F-C38F-08C0-16E28227C936}"/>
          </ac:spMkLst>
        </pc:spChg>
        <pc:picChg chg="add mod">
          <ac:chgData name="alikhan7415916@outlook.com" userId="8daf0c712caf8d63" providerId="LiveId" clId="{F90A5301-3BF2-4C35-85E9-C60DB70D88F7}" dt="2026-06-16T10:31:43.777" v="631"/>
          <ac:picMkLst>
            <pc:docMk/>
            <pc:sldMk cId="3874553547" sldId="267"/>
            <ac:picMk id="2" creationId="{5E6C4D61-C7AD-B15C-AF0B-BBA78E4A3EC8}"/>
          </ac:picMkLst>
        </pc:picChg>
      </pc:sldChg>
      <pc:sldChg chg="addSp modSp new mod modTransition">
        <pc:chgData name="alikhan7415916@outlook.com" userId="8daf0c712caf8d63" providerId="LiveId" clId="{F90A5301-3BF2-4C35-85E9-C60DB70D88F7}" dt="2026-06-16T17:04:13.764" v="883"/>
        <pc:sldMkLst>
          <pc:docMk/>
          <pc:sldMk cId="1580912207" sldId="268"/>
        </pc:sldMkLst>
        <pc:spChg chg="add mod">
          <ac:chgData name="alikhan7415916@outlook.com" userId="8daf0c712caf8d63" providerId="LiveId" clId="{F90A5301-3BF2-4C35-85E9-C60DB70D88F7}" dt="2026-06-16T10:36:06.248" v="677" actId="1076"/>
          <ac:spMkLst>
            <pc:docMk/>
            <pc:sldMk cId="1580912207" sldId="268"/>
            <ac:spMk id="3" creationId="{5BE87BAF-66AA-00CD-4E80-174ADD29507A}"/>
          </ac:spMkLst>
        </pc:spChg>
        <pc:spChg chg="add mod">
          <ac:chgData name="alikhan7415916@outlook.com" userId="8daf0c712caf8d63" providerId="LiveId" clId="{F90A5301-3BF2-4C35-85E9-C60DB70D88F7}" dt="2026-06-16T10:41:58.845" v="747" actId="1076"/>
          <ac:spMkLst>
            <pc:docMk/>
            <pc:sldMk cId="1580912207" sldId="268"/>
            <ac:spMk id="4" creationId="{F0CE9864-B3F2-8193-D4A0-51CE7416D5A8}"/>
          </ac:spMkLst>
        </pc:spChg>
        <pc:picChg chg="add mod">
          <ac:chgData name="alikhan7415916@outlook.com" userId="8daf0c712caf8d63" providerId="LiveId" clId="{F90A5301-3BF2-4C35-85E9-C60DB70D88F7}" dt="2026-06-16T10:35:27.164" v="661"/>
          <ac:picMkLst>
            <pc:docMk/>
            <pc:sldMk cId="1580912207" sldId="268"/>
            <ac:picMk id="2" creationId="{BBADA4A4-0AE1-A013-A4D7-ED5239E09959}"/>
          </ac:picMkLst>
        </pc:picChg>
      </pc:sldChg>
      <pc:sldChg chg="addSp modSp new mod modTransition">
        <pc:chgData name="alikhan7415916@outlook.com" userId="8daf0c712caf8d63" providerId="LiveId" clId="{F90A5301-3BF2-4C35-85E9-C60DB70D88F7}" dt="2026-06-16T17:04:22.924" v="890"/>
        <pc:sldMkLst>
          <pc:docMk/>
          <pc:sldMk cId="4082661565" sldId="269"/>
        </pc:sldMkLst>
        <pc:spChg chg="add mod">
          <ac:chgData name="alikhan7415916@outlook.com" userId="8daf0c712caf8d63" providerId="LiveId" clId="{F90A5301-3BF2-4C35-85E9-C60DB70D88F7}" dt="2026-06-16T10:43:25.209" v="767" actId="1076"/>
          <ac:spMkLst>
            <pc:docMk/>
            <pc:sldMk cId="4082661565" sldId="269"/>
            <ac:spMk id="3" creationId="{9C642225-ABE7-7696-A506-ABF6D945102C}"/>
          </ac:spMkLst>
        </pc:spChg>
        <pc:spChg chg="add mod">
          <ac:chgData name="alikhan7415916@outlook.com" userId="8daf0c712caf8d63" providerId="LiveId" clId="{F90A5301-3BF2-4C35-85E9-C60DB70D88F7}" dt="2026-06-16T10:45:13.304" v="784" actId="404"/>
          <ac:spMkLst>
            <pc:docMk/>
            <pc:sldMk cId="4082661565" sldId="269"/>
            <ac:spMk id="4" creationId="{09D835DA-D4F6-CF3B-9EA3-D5B9989CF54B}"/>
          </ac:spMkLst>
        </pc:spChg>
        <pc:picChg chg="add mod">
          <ac:chgData name="alikhan7415916@outlook.com" userId="8daf0c712caf8d63" providerId="LiveId" clId="{F90A5301-3BF2-4C35-85E9-C60DB70D88F7}" dt="2026-06-16T10:42:33.273" v="749"/>
          <ac:picMkLst>
            <pc:docMk/>
            <pc:sldMk cId="4082661565" sldId="269"/>
            <ac:picMk id="2" creationId="{A43DD855-0179-A24B-E7D8-103D8E095E3D}"/>
          </ac:picMkLst>
        </pc:picChg>
      </pc:sldChg>
      <pc:sldChg chg="addSp modSp new del mod modTransition setBg">
        <pc:chgData name="alikhan7415916@outlook.com" userId="8daf0c712caf8d63" providerId="LiveId" clId="{F90A5301-3BF2-4C35-85E9-C60DB70D88F7}" dt="2026-06-22T09:54:19.676" v="1651" actId="2696"/>
        <pc:sldMkLst>
          <pc:docMk/>
          <pc:sldMk cId="2519283386" sldId="270"/>
        </pc:sldMkLst>
        <pc:spChg chg="add mod">
          <ac:chgData name="alikhan7415916@outlook.com" userId="8daf0c712caf8d63" providerId="LiveId" clId="{F90A5301-3BF2-4C35-85E9-C60DB70D88F7}" dt="2026-06-22T09:35:42.661" v="1322" actId="20577"/>
          <ac:spMkLst>
            <pc:docMk/>
            <pc:sldMk cId="2519283386" sldId="270"/>
            <ac:spMk id="2" creationId="{1A2E9401-59EB-26AA-B3C7-B0416EEF9988}"/>
          </ac:spMkLst>
        </pc:spChg>
      </pc:sldChg>
      <pc:sldChg chg="addSp delSp modSp new mod">
        <pc:chgData name="alikhan7415916@outlook.com" userId="8daf0c712caf8d63" providerId="LiveId" clId="{F90A5301-3BF2-4C35-85E9-C60DB70D88F7}" dt="2026-06-20T08:23:43.692" v="1111" actId="1076"/>
        <pc:sldMkLst>
          <pc:docMk/>
          <pc:sldMk cId="2680639305" sldId="271"/>
        </pc:sldMkLst>
        <pc:spChg chg="add mod">
          <ac:chgData name="alikhan7415916@outlook.com" userId="8daf0c712caf8d63" providerId="LiveId" clId="{F90A5301-3BF2-4C35-85E9-C60DB70D88F7}" dt="2026-06-20T08:05:36.389" v="971" actId="17032"/>
          <ac:spMkLst>
            <pc:docMk/>
            <pc:sldMk cId="2680639305" sldId="271"/>
            <ac:spMk id="3" creationId="{60CE8BAA-B6E1-5DD7-7C13-8FEB323D7CF1}"/>
          </ac:spMkLst>
        </pc:spChg>
        <pc:spChg chg="add mod">
          <ac:chgData name="alikhan7415916@outlook.com" userId="8daf0c712caf8d63" providerId="LiveId" clId="{F90A5301-3BF2-4C35-85E9-C60DB70D88F7}" dt="2026-06-20T08:23:43.692" v="1111" actId="1076"/>
          <ac:spMkLst>
            <pc:docMk/>
            <pc:sldMk cId="2680639305" sldId="271"/>
            <ac:spMk id="4" creationId="{3AE4313A-6FBF-107F-4329-459309AB06AD}"/>
          </ac:spMkLst>
        </pc:spChg>
        <pc:spChg chg="add mod">
          <ac:chgData name="alikhan7415916@outlook.com" userId="8daf0c712caf8d63" providerId="LiveId" clId="{F90A5301-3BF2-4C35-85E9-C60DB70D88F7}" dt="2026-06-20T08:23:11.819" v="1107" actId="1076"/>
          <ac:spMkLst>
            <pc:docMk/>
            <pc:sldMk cId="2680639305" sldId="271"/>
            <ac:spMk id="6" creationId="{CC8FCC02-F487-07A6-F62B-694F6BFACEEC}"/>
          </ac:spMkLst>
        </pc:spChg>
        <pc:picChg chg="add mod">
          <ac:chgData name="alikhan7415916@outlook.com" userId="8daf0c712caf8d63" providerId="LiveId" clId="{F90A5301-3BF2-4C35-85E9-C60DB70D88F7}" dt="2026-06-20T08:04:49.398" v="969"/>
          <ac:picMkLst>
            <pc:docMk/>
            <pc:sldMk cId="2680639305" sldId="271"/>
            <ac:picMk id="2" creationId="{189E3F0E-CA64-37B9-5CC8-91B5D3FC3388}"/>
          </ac:picMkLst>
        </pc:picChg>
      </pc:sldChg>
      <pc:sldChg chg="addSp modSp new del mod setBg">
        <pc:chgData name="alikhan7415916@outlook.com" userId="8daf0c712caf8d63" providerId="LiveId" clId="{F90A5301-3BF2-4C35-85E9-C60DB70D88F7}" dt="2026-06-22T09:54:24.033" v="1652" actId="2696"/>
        <pc:sldMkLst>
          <pc:docMk/>
          <pc:sldMk cId="3032186575" sldId="272"/>
        </pc:sldMkLst>
        <pc:spChg chg="add mod">
          <ac:chgData name="alikhan7415916@outlook.com" userId="8daf0c712caf8d63" providerId="LiveId" clId="{F90A5301-3BF2-4C35-85E9-C60DB70D88F7}" dt="2026-06-22T09:45:58.994" v="1574" actId="6549"/>
          <ac:spMkLst>
            <pc:docMk/>
            <pc:sldMk cId="3032186575" sldId="272"/>
            <ac:spMk id="2" creationId="{AF72104D-2396-98AA-A002-393A9839DDF9}"/>
          </ac:spMkLst>
        </pc:spChg>
      </pc:sldChg>
      <pc:sldChg chg="addSp modSp new del mod">
        <pc:chgData name="alikhan7415916@outlook.com" userId="8daf0c712caf8d63" providerId="LiveId" clId="{F90A5301-3BF2-4C35-85E9-C60DB70D88F7}" dt="2026-06-22T09:16:36.694" v="1117" actId="2696"/>
        <pc:sldMkLst>
          <pc:docMk/>
          <pc:sldMk cId="3770269305" sldId="272"/>
        </pc:sldMkLst>
      </pc:sldChg>
      <pc:sldChg chg="addSp modSp new mod setBg">
        <pc:chgData name="alikhan7415916@outlook.com" userId="8daf0c712caf8d63" providerId="LiveId" clId="{F90A5301-3BF2-4C35-85E9-C60DB70D88F7}" dt="2026-06-22T09:54:46.492" v="1656" actId="20577"/>
        <pc:sldMkLst>
          <pc:docMk/>
          <pc:sldMk cId="556372673" sldId="273"/>
        </pc:sldMkLst>
        <pc:spChg chg="add mod">
          <ac:chgData name="alikhan7415916@outlook.com" userId="8daf0c712caf8d63" providerId="LiveId" clId="{F90A5301-3BF2-4C35-85E9-C60DB70D88F7}" dt="2026-06-22T09:54:46.492" v="1656" actId="20577"/>
          <ac:spMkLst>
            <pc:docMk/>
            <pc:sldMk cId="556372673" sldId="273"/>
            <ac:spMk id="2" creationId="{66A30A54-743F-FE8B-A173-DD5F95EFE7E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7B7A6-71D6-4657-9D4B-BB17BE40E7AD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DE2F1-F558-4F89-B363-10512A8A52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11940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7B7A6-71D6-4657-9D4B-BB17BE40E7AD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DE2F1-F558-4F89-B363-10512A8A52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62517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7B7A6-71D6-4657-9D4B-BB17BE40E7AD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DE2F1-F558-4F89-B363-10512A8A52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8854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7B7A6-71D6-4657-9D4B-BB17BE40E7AD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DE2F1-F558-4F89-B363-10512A8A52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42447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7B7A6-71D6-4657-9D4B-BB17BE40E7AD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DE2F1-F558-4F89-B363-10512A8A52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1812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7B7A6-71D6-4657-9D4B-BB17BE40E7AD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DE2F1-F558-4F89-B363-10512A8A52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90483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7B7A6-71D6-4657-9D4B-BB17BE40E7AD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DE2F1-F558-4F89-B363-10512A8A52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706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7B7A6-71D6-4657-9D4B-BB17BE40E7AD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DE2F1-F558-4F89-B363-10512A8A52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90076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7B7A6-71D6-4657-9D4B-BB17BE40E7AD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DE2F1-F558-4F89-B363-10512A8A52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91098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7B7A6-71D6-4657-9D4B-BB17BE40E7AD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DE2F1-F558-4F89-B363-10512A8A52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82624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7B7A6-71D6-4657-9D4B-BB17BE40E7AD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DE2F1-F558-4F89-B363-10512A8A52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4534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47B7A6-71D6-4657-9D4B-BB17BE40E7AD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2DE2F1-F558-4F89-B363-10512A8A52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307557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98" r:id="rId1"/>
    <p:sldLayoutId id="2147483799" r:id="rId2"/>
    <p:sldLayoutId id="2147483800" r:id="rId3"/>
    <p:sldLayoutId id="2147483801" r:id="rId4"/>
    <p:sldLayoutId id="2147483802" r:id="rId5"/>
    <p:sldLayoutId id="2147483803" r:id="rId6"/>
    <p:sldLayoutId id="2147483804" r:id="rId7"/>
    <p:sldLayoutId id="2147483805" r:id="rId8"/>
    <p:sldLayoutId id="2147483806" r:id="rId9"/>
    <p:sldLayoutId id="2147483807" r:id="rId10"/>
    <p:sldLayoutId id="214748380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Roasted coffee beans filling the frame">
            <a:extLst>
              <a:ext uri="{FF2B5EF4-FFF2-40B4-BE49-F238E27FC236}">
                <a16:creationId xmlns:a16="http://schemas.microsoft.com/office/drawing/2014/main" id="{189E3F0E-CA64-37B9-5CC8-91B5D3FC33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0CE8BAA-B6E1-5DD7-7C13-8FEB323D7CF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E4313A-6FBF-107F-4329-459309AB06AD}"/>
              </a:ext>
            </a:extLst>
          </p:cNvPr>
          <p:cNvSpPr txBox="1"/>
          <p:nvPr/>
        </p:nvSpPr>
        <p:spPr>
          <a:xfrm>
            <a:off x="857250" y="1508760"/>
            <a:ext cx="11480292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dirty="0"/>
              <a:t>Coffee Shop Sales Dashboard</a:t>
            </a:r>
            <a:endParaRPr lang="en-IN" sz="6600" b="1" dirty="0"/>
          </a:p>
          <a:p>
            <a:endParaRPr lang="en-IN" sz="66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8FCC02-F487-07A6-F62B-694F6BFACEEC}"/>
              </a:ext>
            </a:extLst>
          </p:cNvPr>
          <p:cNvSpPr txBox="1"/>
          <p:nvPr/>
        </p:nvSpPr>
        <p:spPr>
          <a:xfrm>
            <a:off x="534924" y="3347602"/>
            <a:ext cx="1212494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/>
              <a:t> Business Insights &amp; Performance Overview  </a:t>
            </a:r>
            <a:br>
              <a:rPr lang="en-US" sz="4800" b="1" dirty="0"/>
            </a:br>
            <a:r>
              <a:rPr lang="en-US" sz="4800" b="1" dirty="0"/>
              <a:t> By [Ali Uddin Khan] – Aspiring Data Analyst</a:t>
            </a:r>
            <a:endParaRPr lang="en-IN" sz="4800" b="1" dirty="0"/>
          </a:p>
          <a:p>
            <a:endParaRPr lang="en-IN" sz="4800" b="1" dirty="0"/>
          </a:p>
          <a:p>
            <a:endParaRPr lang="en-IN" sz="4800" b="1" dirty="0"/>
          </a:p>
        </p:txBody>
      </p:sp>
    </p:spTree>
    <p:extLst>
      <p:ext uri="{BB962C8B-B14F-4D97-AF65-F5344CB8AC3E}">
        <p14:creationId xmlns:p14="http://schemas.microsoft.com/office/powerpoint/2010/main" val="26806393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offee Cup Wallpaper (63+ images)">
            <a:extLst>
              <a:ext uri="{FF2B5EF4-FFF2-40B4-BE49-F238E27FC236}">
                <a16:creationId xmlns:a16="http://schemas.microsoft.com/office/drawing/2014/main" id="{45C20172-ECA6-5B3D-0975-4C8A419F82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849513A-19D1-4091-8D7C-1EA77ECF53DB}"/>
              </a:ext>
            </a:extLst>
          </p:cNvPr>
          <p:cNvSpPr txBox="1"/>
          <p:nvPr/>
        </p:nvSpPr>
        <p:spPr>
          <a:xfrm>
            <a:off x="0" y="0"/>
            <a:ext cx="12192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7200" b="1" dirty="0"/>
          </a:p>
          <a:p>
            <a:endParaRPr lang="en-US" sz="7200" b="1" dirty="0">
              <a:solidFill>
                <a:srgbClr val="FFF9F0"/>
              </a:solidFill>
            </a:endParaRPr>
          </a:p>
          <a:p>
            <a:endParaRPr lang="en-US" sz="72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BEA12C-1ED2-B397-7D7D-2F1651CFBC5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1C26CC-21F4-E61E-EA76-F5A0E389C5E5}"/>
              </a:ext>
            </a:extLst>
          </p:cNvPr>
          <p:cNvSpPr txBox="1"/>
          <p:nvPr/>
        </p:nvSpPr>
        <p:spPr>
          <a:xfrm>
            <a:off x="0" y="82296"/>
            <a:ext cx="54223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dirty="0">
                <a:solidFill>
                  <a:schemeClr val="bg1"/>
                </a:solidFill>
              </a:rPr>
              <a:t>introduction</a:t>
            </a:r>
            <a:endParaRPr lang="en-IN" sz="7200" b="1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9E9413-D3D7-737B-7C9A-257E81D9BDB5}"/>
              </a:ext>
            </a:extLst>
          </p:cNvPr>
          <p:cNvSpPr txBox="1"/>
          <p:nvPr/>
        </p:nvSpPr>
        <p:spPr>
          <a:xfrm>
            <a:off x="246888" y="1819656"/>
            <a:ext cx="11558016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E3C9A1"/>
                </a:solidFill>
              </a:rPr>
              <a:t>Objective : To analyze sales, customer footfall, and product performance across multiple store locations. </a:t>
            </a:r>
          </a:p>
          <a:p>
            <a:endParaRPr lang="en-US" sz="2800" b="1" dirty="0">
              <a:solidFill>
                <a:srgbClr val="E3C9A1"/>
              </a:solidFill>
            </a:endParaRPr>
          </a:p>
          <a:p>
            <a:r>
              <a:rPr lang="en-US" sz="2800" b="1" dirty="0">
                <a:solidFill>
                  <a:srgbClr val="E3C9A1"/>
                </a:solidFill>
              </a:rPr>
              <a:t> </a:t>
            </a:r>
          </a:p>
          <a:p>
            <a:r>
              <a:rPr lang="en-US" sz="2800" b="1" dirty="0">
                <a:solidFill>
                  <a:srgbClr val="E3C9A1"/>
                </a:solidFill>
              </a:rPr>
              <a:t>Tools Used : Excel  </a:t>
            </a:r>
          </a:p>
          <a:p>
            <a:endParaRPr lang="en-US" sz="2800" b="1" dirty="0">
              <a:solidFill>
                <a:srgbClr val="E3C9A1"/>
              </a:solidFill>
            </a:endParaRPr>
          </a:p>
          <a:p>
            <a:endParaRPr lang="en-US" sz="2800" b="1" dirty="0">
              <a:solidFill>
                <a:srgbClr val="E3C9A1"/>
              </a:solidFill>
            </a:endParaRPr>
          </a:p>
          <a:p>
            <a:r>
              <a:rPr lang="en-US" sz="2800" b="1" dirty="0">
                <a:solidFill>
                  <a:srgbClr val="E3C9A1"/>
                </a:solidFill>
              </a:rPr>
              <a:t>Focus : Identifying key drivers of revenue and customer behavior.</a:t>
            </a:r>
          </a:p>
          <a:p>
            <a:endParaRPr lang="en-IN" sz="2800" b="1" dirty="0">
              <a:solidFill>
                <a:srgbClr val="E3C9A1"/>
              </a:solidFill>
            </a:endParaRPr>
          </a:p>
          <a:p>
            <a:endParaRPr lang="en-IN" sz="2800" dirty="0">
              <a:solidFill>
                <a:srgbClr val="E3C9A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6858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5000">
        <p159:morph option="byObject"/>
      </p:transition>
    </mc:Choice>
    <mc:Fallback xmlns="">
      <p:transition spd="slow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58 Coffee Powerpoint Template Free Download | Heritagechristiancollege">
            <a:extLst>
              <a:ext uri="{FF2B5EF4-FFF2-40B4-BE49-F238E27FC236}">
                <a16:creationId xmlns:a16="http://schemas.microsoft.com/office/drawing/2014/main" id="{E2702AF4-64A7-42C4-A7EE-6D36D1F9DE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9D6B840-4CDF-78D5-8E37-D30DD3E78A51}"/>
              </a:ext>
            </a:extLst>
          </p:cNvPr>
          <p:cNvSpPr txBox="1"/>
          <p:nvPr/>
        </p:nvSpPr>
        <p:spPr>
          <a:xfrm>
            <a:off x="219456" y="1152144"/>
            <a:ext cx="60258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4B2E2E"/>
                </a:solidFill>
              </a:rPr>
              <a:t>Key Metrics Overview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2FC80D-9EBF-7958-70D6-3314B6F9AFA0}"/>
              </a:ext>
            </a:extLst>
          </p:cNvPr>
          <p:cNvSpPr txBox="1"/>
          <p:nvPr/>
        </p:nvSpPr>
        <p:spPr>
          <a:xfrm>
            <a:off x="188976" y="2121408"/>
            <a:ext cx="11814048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4B2E2E"/>
                </a:solidFill>
              </a:rPr>
              <a:t>Total Sales </a:t>
            </a:r>
            <a:r>
              <a:rPr lang="en-US" sz="2800" dirty="0">
                <a:solidFill>
                  <a:schemeClr val="bg1"/>
                </a:solidFill>
              </a:rPr>
              <a:t>: $698,812.33 </a:t>
            </a:r>
          </a:p>
          <a:p>
            <a:r>
              <a:rPr lang="en-US" sz="2800" dirty="0">
                <a:solidFill>
                  <a:schemeClr val="bg1"/>
                </a:solidFill>
              </a:rPr>
              <a:t> </a:t>
            </a:r>
          </a:p>
          <a:p>
            <a:r>
              <a:rPr lang="en-US" sz="2800" b="1" dirty="0">
                <a:solidFill>
                  <a:srgbClr val="4B2E2E"/>
                </a:solidFill>
              </a:rPr>
              <a:t>Total Footfall </a:t>
            </a:r>
            <a:r>
              <a:rPr lang="en-US" sz="2800" dirty="0">
                <a:solidFill>
                  <a:schemeClr val="bg1"/>
                </a:solidFill>
              </a:rPr>
              <a:t>: 149,116  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b="1" dirty="0">
                <a:solidFill>
                  <a:srgbClr val="4B2E2E"/>
                </a:solidFill>
              </a:rPr>
              <a:t>Average Bill per Person </a:t>
            </a:r>
            <a:r>
              <a:rPr lang="en-US" sz="2800" dirty="0"/>
              <a:t>: </a:t>
            </a:r>
            <a:r>
              <a:rPr lang="en-US" sz="2800" dirty="0">
                <a:solidFill>
                  <a:schemeClr val="bg1"/>
                </a:solidFill>
              </a:rPr>
              <a:t>4.69 </a:t>
            </a:r>
          </a:p>
          <a:p>
            <a:r>
              <a:rPr lang="en-US" sz="2800" dirty="0">
                <a:solidFill>
                  <a:schemeClr val="bg1"/>
                </a:solidFill>
              </a:rPr>
              <a:t> </a:t>
            </a:r>
          </a:p>
          <a:p>
            <a:r>
              <a:rPr lang="en-US" sz="2800" b="1" dirty="0">
                <a:solidFill>
                  <a:srgbClr val="4B2E2E"/>
                </a:solidFill>
              </a:rPr>
              <a:t>Average Order per Person </a:t>
            </a:r>
            <a:r>
              <a:rPr lang="en-US" sz="2800" dirty="0"/>
              <a:t>: </a:t>
            </a:r>
            <a:r>
              <a:rPr lang="en-US" sz="2800" dirty="0">
                <a:solidFill>
                  <a:schemeClr val="bg1"/>
                </a:solidFill>
              </a:rPr>
              <a:t>1.44  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b="1" dirty="0">
                <a:solidFill>
                  <a:srgbClr val="4B2E2E"/>
                </a:solidFill>
              </a:rPr>
              <a:t>Insight </a:t>
            </a:r>
            <a:r>
              <a:rPr lang="en-US" sz="2800" dirty="0"/>
              <a:t>: </a:t>
            </a:r>
            <a:r>
              <a:rPr lang="en-US" sz="2800" dirty="0">
                <a:solidFill>
                  <a:schemeClr val="bg1"/>
                </a:solidFill>
              </a:rPr>
              <a:t>Strong customer base with consistent spending patterns.</a:t>
            </a:r>
          </a:p>
          <a:p>
            <a:endParaRPr lang="en-IN" dirty="0"/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1773962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5000">
        <p159:morph option="byObject"/>
      </p:transition>
    </mc:Choice>
    <mc:Fallback xmlns="">
      <p:transition spd="slow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ffee Background Stock Vector (Royalty Free) 112476482 | Shutterstock">
            <a:extLst>
              <a:ext uri="{FF2B5EF4-FFF2-40B4-BE49-F238E27FC236}">
                <a16:creationId xmlns:a16="http://schemas.microsoft.com/office/drawing/2014/main" id="{0AFE7AA1-BDFF-2E1E-C33E-847E19A139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7686E72-A5E5-18DF-87CF-114BBC541EB7}"/>
              </a:ext>
            </a:extLst>
          </p:cNvPr>
          <p:cNvSpPr txBox="1"/>
          <p:nvPr/>
        </p:nvSpPr>
        <p:spPr>
          <a:xfrm>
            <a:off x="0" y="1179576"/>
            <a:ext cx="898855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4B2E2E"/>
                </a:solidFill>
              </a:rPr>
              <a:t>Sales Trend By Hour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99D4FF-8555-0F1A-FB8F-748E86F256EF}"/>
              </a:ext>
            </a:extLst>
          </p:cNvPr>
          <p:cNvSpPr txBox="1"/>
          <p:nvPr/>
        </p:nvSpPr>
        <p:spPr>
          <a:xfrm>
            <a:off x="82296" y="2386584"/>
            <a:ext cx="11887200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4B2E2E"/>
                </a:solidFill>
              </a:rPr>
              <a:t>Observation </a:t>
            </a:r>
            <a:r>
              <a:rPr lang="en-US" sz="3200" dirty="0">
                <a:solidFill>
                  <a:schemeClr val="bg1"/>
                </a:solidFill>
              </a:rPr>
              <a:t>: Orders peak between 9–10 AM, decline after 6 PM.</a:t>
            </a:r>
          </a:p>
          <a:p>
            <a:r>
              <a:rPr lang="en-US" sz="3200" dirty="0">
                <a:solidFill>
                  <a:schemeClr val="bg1"/>
                </a:solidFill>
              </a:rPr>
              <a:t>  </a:t>
            </a:r>
          </a:p>
          <a:p>
            <a:r>
              <a:rPr lang="en-US" sz="3200" b="1" dirty="0">
                <a:solidFill>
                  <a:srgbClr val="4B2E2E"/>
                </a:solidFill>
              </a:rPr>
              <a:t>Insight </a:t>
            </a:r>
            <a:r>
              <a:rPr lang="en-US" sz="3200" dirty="0">
                <a:solidFill>
                  <a:schemeClr val="bg1"/>
                </a:solidFill>
              </a:rPr>
              <a:t>:</a:t>
            </a:r>
            <a:r>
              <a:rPr lang="en-US" sz="3200" dirty="0"/>
              <a:t> </a:t>
            </a:r>
            <a:r>
              <a:rPr lang="en-US" sz="3200" dirty="0">
                <a:solidFill>
                  <a:schemeClr val="bg1"/>
                </a:solidFill>
              </a:rPr>
              <a:t>Morning rush hour is the most profitable period. </a:t>
            </a:r>
          </a:p>
          <a:p>
            <a:r>
              <a:rPr lang="en-US" sz="3200" dirty="0">
                <a:solidFill>
                  <a:schemeClr val="bg1"/>
                </a:solidFill>
              </a:rPr>
              <a:t> </a:t>
            </a:r>
          </a:p>
          <a:p>
            <a:r>
              <a:rPr lang="en-US" sz="3200" b="1" dirty="0">
                <a:solidFill>
                  <a:srgbClr val="4B2E2E"/>
                </a:solidFill>
              </a:rPr>
              <a:t>Recommendation </a:t>
            </a:r>
            <a:r>
              <a:rPr lang="en-US" sz="3200" dirty="0">
                <a:solidFill>
                  <a:schemeClr val="bg1"/>
                </a:solidFill>
              </a:rPr>
              <a:t>: Optimize staffing and promotions during peak hours.</a:t>
            </a:r>
          </a:p>
          <a:p>
            <a:endParaRPr lang="en-IN" sz="3200" dirty="0"/>
          </a:p>
          <a:p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2123174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5000">
        <p159:morph option="byObject"/>
      </p:transition>
    </mc:Choice>
    <mc:Fallback xmlns="">
      <p:transition spd="slow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58 Coffee Powerpoint Template Free Download | Heritagechristiancollege">
            <a:extLst>
              <a:ext uri="{FF2B5EF4-FFF2-40B4-BE49-F238E27FC236}">
                <a16:creationId xmlns:a16="http://schemas.microsoft.com/office/drawing/2014/main" id="{2C9D12BD-B869-AF02-F0D3-19971A2FD7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3B40F75-C587-FBC4-5824-82A9FB4B393E}"/>
              </a:ext>
            </a:extLst>
          </p:cNvPr>
          <p:cNvSpPr txBox="1"/>
          <p:nvPr/>
        </p:nvSpPr>
        <p:spPr>
          <a:xfrm>
            <a:off x="109728" y="859536"/>
            <a:ext cx="65562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4B2E2E"/>
                </a:solidFill>
              </a:rPr>
              <a:t>Category Contribution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F1E344-2FDB-39C9-A3FC-326743675C1E}"/>
              </a:ext>
            </a:extLst>
          </p:cNvPr>
          <p:cNvSpPr txBox="1"/>
          <p:nvPr/>
        </p:nvSpPr>
        <p:spPr>
          <a:xfrm>
            <a:off x="182880" y="2488513"/>
            <a:ext cx="11082528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4B2E2E"/>
                </a:solidFill>
              </a:rPr>
              <a:t>Coffee</a:t>
            </a:r>
            <a:r>
              <a:rPr lang="en-US" sz="2800" dirty="0">
                <a:solidFill>
                  <a:schemeClr val="bg1"/>
                </a:solidFill>
              </a:rPr>
              <a:t>: 39% |</a:t>
            </a:r>
            <a:r>
              <a:rPr lang="en-US" sz="2800" dirty="0"/>
              <a:t> </a:t>
            </a:r>
            <a:r>
              <a:rPr lang="en-US" sz="2800" b="1" dirty="0">
                <a:solidFill>
                  <a:srgbClr val="4B2E2E"/>
                </a:solidFill>
              </a:rPr>
              <a:t>Drinking Chocolate</a:t>
            </a:r>
            <a:r>
              <a:rPr lang="en-US" sz="2800" dirty="0">
                <a:solidFill>
                  <a:schemeClr val="bg1"/>
                </a:solidFill>
              </a:rPr>
              <a:t>: 28% |</a:t>
            </a:r>
            <a:r>
              <a:rPr lang="en-US" sz="2800" dirty="0"/>
              <a:t> </a:t>
            </a:r>
            <a:r>
              <a:rPr lang="en-US" sz="2800" b="1" dirty="0">
                <a:solidFill>
                  <a:srgbClr val="4B2E2E"/>
                </a:solidFill>
              </a:rPr>
              <a:t>Bakery</a:t>
            </a:r>
            <a:r>
              <a:rPr lang="en-US" sz="2800" dirty="0">
                <a:solidFill>
                  <a:schemeClr val="bg1"/>
                </a:solidFill>
              </a:rPr>
              <a:t>: 12% |</a:t>
            </a:r>
            <a:r>
              <a:rPr lang="en-US" sz="2800" dirty="0"/>
              <a:t> </a:t>
            </a:r>
            <a:r>
              <a:rPr lang="en-US" sz="2800" b="1" dirty="0">
                <a:solidFill>
                  <a:srgbClr val="4B2E2E"/>
                </a:solidFill>
              </a:rPr>
              <a:t>Others</a:t>
            </a:r>
            <a:r>
              <a:rPr lang="en-US" sz="2800" dirty="0">
                <a:solidFill>
                  <a:schemeClr val="bg1"/>
                </a:solidFill>
              </a:rPr>
              <a:t>: 21%</a:t>
            </a:r>
            <a:r>
              <a:rPr lang="en-US" sz="2800" dirty="0"/>
              <a:t> </a:t>
            </a:r>
          </a:p>
          <a:p>
            <a:r>
              <a:rPr lang="en-US" sz="2800" dirty="0">
                <a:solidFill>
                  <a:schemeClr val="bg1"/>
                </a:solidFill>
              </a:rPr>
              <a:t> </a:t>
            </a:r>
          </a:p>
          <a:p>
            <a:r>
              <a:rPr lang="en-US" sz="2800" b="1" dirty="0">
                <a:solidFill>
                  <a:srgbClr val="4B2E2E"/>
                </a:solidFill>
              </a:rPr>
              <a:t>Insight</a:t>
            </a:r>
            <a:r>
              <a:rPr lang="en-US" sz="2800" dirty="0">
                <a:solidFill>
                  <a:schemeClr val="bg1"/>
                </a:solidFill>
              </a:rPr>
              <a:t>: Coffee is the primary revenue driver.  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b="1" dirty="0">
                <a:solidFill>
                  <a:srgbClr val="4B2E2E"/>
                </a:solidFill>
              </a:rPr>
              <a:t>Recommendation</a:t>
            </a:r>
            <a:r>
              <a:rPr lang="en-US" sz="2800" dirty="0">
                <a:solidFill>
                  <a:schemeClr val="bg1"/>
                </a:solidFill>
              </a:rPr>
              <a:t>: Expand coffee offerings and bundle with bakery items.</a:t>
            </a:r>
          </a:p>
          <a:p>
            <a:endParaRPr lang="en-IN" sz="2800" dirty="0">
              <a:solidFill>
                <a:schemeClr val="bg1"/>
              </a:solidFill>
            </a:endParaRPr>
          </a:p>
          <a:p>
            <a:endParaRPr lang="en-IN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14388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5000">
        <p159:morph option="byObject"/>
      </p:transition>
    </mc:Choice>
    <mc:Fallback xmlns="">
      <p:transition spd="slow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6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F43932A-152F-DF5D-6E05-F277D1D3E0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725"/>
            <a:ext cx="12191998" cy="6772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55206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5000">
        <p159:morph option="byObject"/>
      </p:transition>
    </mc:Choice>
    <mc:Fallback xmlns="">
      <p:transition spd="slow" advClick="0" advTm="500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ffee Background Stock Vector (Royalty Free) 112476482 | Shutterstock">
            <a:extLst>
              <a:ext uri="{FF2B5EF4-FFF2-40B4-BE49-F238E27FC236}">
                <a16:creationId xmlns:a16="http://schemas.microsoft.com/office/drawing/2014/main" id="{5BE09536-64D0-2EF0-B3B0-C3171734D7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51B17E5-1AB9-A1A2-F2AA-694E9E387BBF}"/>
              </a:ext>
            </a:extLst>
          </p:cNvPr>
          <p:cNvSpPr txBox="1"/>
          <p:nvPr/>
        </p:nvSpPr>
        <p:spPr>
          <a:xfrm>
            <a:off x="0" y="1252728"/>
            <a:ext cx="59679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b="1" dirty="0">
                <a:solidFill>
                  <a:srgbClr val="4B2E2E"/>
                </a:solidFill>
              </a:rPr>
              <a:t>Order Size Distribution</a:t>
            </a:r>
            <a:endParaRPr lang="en-IN" sz="4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AF5E8D-D340-A2B2-7D58-6486F5D9C400}"/>
              </a:ext>
            </a:extLst>
          </p:cNvPr>
          <p:cNvSpPr txBox="1"/>
          <p:nvPr/>
        </p:nvSpPr>
        <p:spPr>
          <a:xfrm>
            <a:off x="0" y="2871216"/>
            <a:ext cx="12082272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4B2E2E"/>
                </a:solidFill>
              </a:rPr>
              <a:t>Small</a:t>
            </a:r>
            <a:r>
              <a:rPr lang="en-US" sz="3200" dirty="0">
                <a:solidFill>
                  <a:schemeClr val="bg1"/>
                </a:solidFill>
              </a:rPr>
              <a:t>: 31% | </a:t>
            </a:r>
            <a:r>
              <a:rPr lang="en-US" sz="3200" b="1" dirty="0">
                <a:solidFill>
                  <a:srgbClr val="4B2E2E"/>
                </a:solidFill>
              </a:rPr>
              <a:t>Regular</a:t>
            </a:r>
            <a:r>
              <a:rPr lang="en-US" sz="3200" dirty="0">
                <a:solidFill>
                  <a:schemeClr val="bg1"/>
                </a:solidFill>
              </a:rPr>
              <a:t>: 30% | </a:t>
            </a:r>
            <a:r>
              <a:rPr lang="en-US" sz="3200" b="1" dirty="0">
                <a:solidFill>
                  <a:srgbClr val="4B2E2E"/>
                </a:solidFill>
              </a:rPr>
              <a:t>Large</a:t>
            </a:r>
            <a:r>
              <a:rPr lang="en-US" sz="3200" dirty="0">
                <a:solidFill>
                  <a:schemeClr val="bg1"/>
                </a:solidFill>
              </a:rPr>
              <a:t>: 30% | Undefined: 9% </a:t>
            </a:r>
          </a:p>
          <a:p>
            <a:r>
              <a:rPr lang="en-US" sz="3200" dirty="0">
                <a:solidFill>
                  <a:schemeClr val="bg1"/>
                </a:solidFill>
              </a:rPr>
              <a:t> </a:t>
            </a:r>
          </a:p>
          <a:p>
            <a:r>
              <a:rPr lang="en-US" sz="3200" b="1" dirty="0">
                <a:solidFill>
                  <a:srgbClr val="4B2E2E"/>
                </a:solidFill>
              </a:rPr>
              <a:t>Insight</a:t>
            </a:r>
            <a:r>
              <a:rPr lang="en-US" sz="3200" dirty="0">
                <a:solidFill>
                  <a:schemeClr val="bg1"/>
                </a:solidFill>
              </a:rPr>
              <a:t>: Balanced preference across sizes.</a:t>
            </a:r>
          </a:p>
          <a:p>
            <a:r>
              <a:rPr lang="en-US" sz="3200" dirty="0">
                <a:solidFill>
                  <a:schemeClr val="bg1"/>
                </a:solidFill>
              </a:rPr>
              <a:t>  </a:t>
            </a:r>
          </a:p>
          <a:p>
            <a:r>
              <a:rPr lang="en-US" sz="3200" b="1" dirty="0">
                <a:solidFill>
                  <a:srgbClr val="4B2E2E"/>
                </a:solidFill>
              </a:rPr>
              <a:t>Recommendation</a:t>
            </a:r>
            <a:r>
              <a:rPr lang="en-US" sz="3200" dirty="0">
                <a:solidFill>
                  <a:schemeClr val="bg1"/>
                </a:solidFill>
              </a:rPr>
              <a:t>: Introduce loyalty rewards for upsizing orders.</a:t>
            </a:r>
          </a:p>
          <a:p>
            <a:endParaRPr lang="en-IN" sz="3200" dirty="0">
              <a:solidFill>
                <a:schemeClr val="bg1"/>
              </a:solidFill>
            </a:endParaRPr>
          </a:p>
          <a:p>
            <a:endParaRPr lang="en-IN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77969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5000">
        <p159:morph option="byObject"/>
      </p:transition>
    </mc:Choice>
    <mc:Fallback xmlns="">
      <p:transition spd="slow" advClick="0" advTm="500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ffee Background Stock Vector (Royalty Free) 112476482 | Shutterstock">
            <a:extLst>
              <a:ext uri="{FF2B5EF4-FFF2-40B4-BE49-F238E27FC236}">
                <a16:creationId xmlns:a16="http://schemas.microsoft.com/office/drawing/2014/main" id="{5E6C4D61-C7AD-B15C-AF0B-BBA78E4A3E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6EE62E5-1521-9005-455A-7F615CA95BE9}"/>
              </a:ext>
            </a:extLst>
          </p:cNvPr>
          <p:cNvSpPr txBox="1"/>
          <p:nvPr/>
        </p:nvSpPr>
        <p:spPr>
          <a:xfrm>
            <a:off x="64008" y="1376029"/>
            <a:ext cx="55595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rgbClr val="4B2E2E"/>
                </a:solidFill>
              </a:rPr>
              <a:t>Store Location Performance</a:t>
            </a:r>
            <a:endParaRPr lang="en-IN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73724E-F94F-C38F-08C0-16E28227C936}"/>
              </a:ext>
            </a:extLst>
          </p:cNvPr>
          <p:cNvSpPr txBox="1"/>
          <p:nvPr/>
        </p:nvSpPr>
        <p:spPr>
          <a:xfrm>
            <a:off x="64008" y="3101352"/>
            <a:ext cx="1180795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4B2E2E"/>
                </a:solidFill>
              </a:rPr>
              <a:t>Astoria</a:t>
            </a:r>
            <a:r>
              <a:rPr lang="en-US" sz="2400" dirty="0">
                <a:solidFill>
                  <a:schemeClr val="bg1"/>
                </a:solidFill>
              </a:rPr>
              <a:t>: $232,243.91 | </a:t>
            </a:r>
            <a:r>
              <a:rPr lang="en-US" sz="2400" b="1" dirty="0">
                <a:solidFill>
                  <a:srgbClr val="4B2E2E"/>
                </a:solidFill>
              </a:rPr>
              <a:t>Hell’s Kitchen</a:t>
            </a:r>
            <a:r>
              <a:rPr lang="en-US" sz="2400" dirty="0">
                <a:solidFill>
                  <a:schemeClr val="bg1"/>
                </a:solidFill>
              </a:rPr>
              <a:t>: $236,511.17 | Lower Manhattan: $230,057.25 </a:t>
            </a:r>
          </a:p>
          <a:p>
            <a:r>
              <a:rPr lang="en-US" sz="2400" dirty="0">
                <a:solidFill>
                  <a:schemeClr val="bg1"/>
                </a:solidFill>
              </a:rPr>
              <a:t> </a:t>
            </a:r>
          </a:p>
          <a:p>
            <a:r>
              <a:rPr lang="en-US" sz="2400" b="1" dirty="0">
                <a:solidFill>
                  <a:srgbClr val="4B2E2E"/>
                </a:solidFill>
              </a:rPr>
              <a:t>Insight</a:t>
            </a:r>
            <a:r>
              <a:rPr lang="en-US" sz="2400" dirty="0">
                <a:solidFill>
                  <a:schemeClr val="bg1"/>
                </a:solidFill>
              </a:rPr>
              <a:t>: Hell’s Kitchen slightly leads in sales and footfall. </a:t>
            </a:r>
          </a:p>
          <a:p>
            <a:r>
              <a:rPr lang="en-US" sz="2400" dirty="0">
                <a:solidFill>
                  <a:schemeClr val="bg1"/>
                </a:solidFill>
              </a:rPr>
              <a:t> </a:t>
            </a:r>
          </a:p>
          <a:p>
            <a:r>
              <a:rPr lang="en-US" sz="2400" b="1" dirty="0">
                <a:solidFill>
                  <a:srgbClr val="4B2E2E"/>
                </a:solidFill>
              </a:rPr>
              <a:t>Recommendation</a:t>
            </a:r>
            <a:r>
              <a:rPr lang="en-US" sz="2400" dirty="0">
                <a:solidFill>
                  <a:schemeClr val="bg1"/>
                </a:solidFill>
              </a:rPr>
              <a:t>: Replicate successful strategies across other locations.</a:t>
            </a:r>
          </a:p>
          <a:p>
            <a:endParaRPr lang="en-IN" sz="2400" dirty="0">
              <a:solidFill>
                <a:schemeClr val="bg1"/>
              </a:solidFill>
            </a:endParaRP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874553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5000">
        <p:fade/>
      </p:transition>
    </mc:Choice>
    <mc:Fallback xmlns="">
      <p:transition spd="med" advClick="0" advTm="500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ffee Background Stock Vector (Royalty Free) 112476482 | Shutterstock">
            <a:extLst>
              <a:ext uri="{FF2B5EF4-FFF2-40B4-BE49-F238E27FC236}">
                <a16:creationId xmlns:a16="http://schemas.microsoft.com/office/drawing/2014/main" id="{BBADA4A4-0AE1-A013-A4D7-ED5239E099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BE87BAF-66AA-00CD-4E80-174ADD29507A}"/>
              </a:ext>
            </a:extLst>
          </p:cNvPr>
          <p:cNvSpPr txBox="1"/>
          <p:nvPr/>
        </p:nvSpPr>
        <p:spPr>
          <a:xfrm>
            <a:off x="0" y="996696"/>
            <a:ext cx="575157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600" b="1" dirty="0">
                <a:solidFill>
                  <a:srgbClr val="4B2E2E"/>
                </a:solidFill>
              </a:rPr>
              <a:t>Top 5 Products</a:t>
            </a:r>
            <a:endParaRPr lang="en-IN" sz="6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CE9864-B3F2-8193-D4A0-51CE7416D5A8}"/>
              </a:ext>
            </a:extLst>
          </p:cNvPr>
          <p:cNvSpPr txBox="1"/>
          <p:nvPr/>
        </p:nvSpPr>
        <p:spPr>
          <a:xfrm>
            <a:off x="137160" y="2588520"/>
            <a:ext cx="1205484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4B2E2E"/>
                </a:solidFill>
              </a:rPr>
              <a:t>1 . </a:t>
            </a:r>
            <a:r>
              <a:rPr lang="en-US" sz="1600" b="1" dirty="0">
                <a:solidFill>
                  <a:srgbClr val="4B2E2E"/>
                </a:solidFill>
              </a:rPr>
              <a:t>Barista Espresso</a:t>
            </a:r>
            <a:r>
              <a:rPr lang="en-US" sz="1600" dirty="0"/>
              <a:t> </a:t>
            </a:r>
            <a:r>
              <a:rPr lang="en-US" sz="1600" dirty="0">
                <a:solidFill>
                  <a:schemeClr val="bg1"/>
                </a:solidFill>
              </a:rPr>
              <a:t>– $91,406.20  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2. </a:t>
            </a:r>
            <a:r>
              <a:rPr lang="en-US" sz="1600" b="1" dirty="0">
                <a:solidFill>
                  <a:srgbClr val="4B2E2E"/>
                </a:solidFill>
              </a:rPr>
              <a:t>Brewed Chai Tea</a:t>
            </a:r>
            <a:r>
              <a:rPr lang="en-US" sz="1600" dirty="0"/>
              <a:t> </a:t>
            </a:r>
            <a:r>
              <a:rPr lang="en-US" sz="1600" dirty="0">
                <a:solidFill>
                  <a:schemeClr val="bg1"/>
                </a:solidFill>
              </a:rPr>
              <a:t>– $77,081.95</a:t>
            </a:r>
          </a:p>
          <a:p>
            <a:r>
              <a:rPr lang="en-US" sz="1600" dirty="0">
                <a:solidFill>
                  <a:schemeClr val="bg1"/>
                </a:solidFill>
              </a:rPr>
              <a:t>  </a:t>
            </a:r>
          </a:p>
          <a:p>
            <a:r>
              <a:rPr lang="en-US" sz="1600" dirty="0">
                <a:solidFill>
                  <a:schemeClr val="bg1"/>
                </a:solidFill>
              </a:rPr>
              <a:t>3. </a:t>
            </a:r>
            <a:r>
              <a:rPr lang="en-US" sz="1600" b="1" dirty="0">
                <a:solidFill>
                  <a:srgbClr val="4B2E2E"/>
                </a:solidFill>
              </a:rPr>
              <a:t>Hot</a:t>
            </a:r>
            <a:r>
              <a:rPr lang="en-US" sz="1600" dirty="0"/>
              <a:t> </a:t>
            </a:r>
            <a:r>
              <a:rPr lang="en-US" sz="1600" b="1" dirty="0">
                <a:solidFill>
                  <a:srgbClr val="4B2E2E"/>
                </a:solidFill>
              </a:rPr>
              <a:t>Chocolate</a:t>
            </a:r>
            <a:r>
              <a:rPr lang="en-US" sz="1600" dirty="0"/>
              <a:t> </a:t>
            </a:r>
            <a:r>
              <a:rPr lang="en-US" sz="1600" dirty="0">
                <a:solidFill>
                  <a:schemeClr val="bg1"/>
                </a:solidFill>
              </a:rPr>
              <a:t>– $72,416.00  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4. </a:t>
            </a:r>
            <a:r>
              <a:rPr lang="en-US" sz="1600" b="1" dirty="0">
                <a:solidFill>
                  <a:srgbClr val="4B2E2E"/>
                </a:solidFill>
              </a:rPr>
              <a:t>Gourmet Brewed Coffee</a:t>
            </a:r>
            <a:r>
              <a:rPr lang="en-US" sz="1600" dirty="0"/>
              <a:t> </a:t>
            </a:r>
            <a:r>
              <a:rPr lang="en-US" sz="1600" dirty="0">
                <a:solidFill>
                  <a:schemeClr val="bg1"/>
                </a:solidFill>
              </a:rPr>
              <a:t>– $70,034.60</a:t>
            </a:r>
          </a:p>
          <a:p>
            <a:r>
              <a:rPr lang="en-US" sz="1600" dirty="0">
                <a:solidFill>
                  <a:schemeClr val="bg1"/>
                </a:solidFill>
              </a:rPr>
              <a:t>  </a:t>
            </a:r>
          </a:p>
          <a:p>
            <a:r>
              <a:rPr lang="en-US" sz="1600" dirty="0">
                <a:solidFill>
                  <a:schemeClr val="bg1"/>
                </a:solidFill>
              </a:rPr>
              <a:t>5.</a:t>
            </a:r>
            <a:r>
              <a:rPr lang="en-US" sz="1600" dirty="0"/>
              <a:t> </a:t>
            </a:r>
            <a:r>
              <a:rPr lang="en-US" sz="1600" b="1" dirty="0">
                <a:solidFill>
                  <a:srgbClr val="4B2E2E"/>
                </a:solidFill>
              </a:rPr>
              <a:t>Brewed Black Tea </a:t>
            </a:r>
            <a:r>
              <a:rPr lang="en-US" sz="1600" dirty="0">
                <a:solidFill>
                  <a:schemeClr val="bg1"/>
                </a:solidFill>
              </a:rPr>
              <a:t>– $47,932.00  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b="1" dirty="0">
                <a:solidFill>
                  <a:srgbClr val="4B2E2E"/>
                </a:solidFill>
              </a:rPr>
              <a:t>Insight</a:t>
            </a:r>
            <a:r>
              <a:rPr lang="en-US" sz="1600" dirty="0">
                <a:solidFill>
                  <a:schemeClr val="bg1"/>
                </a:solidFill>
              </a:rPr>
              <a:t>: Espresso is the star performer.  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b="1" dirty="0">
                <a:solidFill>
                  <a:srgbClr val="4B2E2E"/>
                </a:solidFill>
              </a:rPr>
              <a:t>Recommendation</a:t>
            </a:r>
            <a:r>
              <a:rPr lang="en-US" sz="1600" dirty="0">
                <a:solidFill>
                  <a:schemeClr val="bg1"/>
                </a:solidFill>
              </a:rPr>
              <a:t>: Promote top products with seasonal campaigns.</a:t>
            </a:r>
          </a:p>
          <a:p>
            <a:endParaRPr lang="en-IN" sz="1600" dirty="0">
              <a:solidFill>
                <a:schemeClr val="bg1"/>
              </a:solidFill>
            </a:endParaRPr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580912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5000">
        <p:fade/>
      </p:transition>
    </mc:Choice>
    <mc:Fallback xmlns="">
      <p:transition spd="med" advClick="0" advTm="5000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ffee Background Stock Vector (Royalty Free) 112476482 | Shutterstock">
            <a:extLst>
              <a:ext uri="{FF2B5EF4-FFF2-40B4-BE49-F238E27FC236}">
                <a16:creationId xmlns:a16="http://schemas.microsoft.com/office/drawing/2014/main" id="{A43DD855-0179-A24B-E7D8-103D8E095E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C642225-ABE7-7696-A506-ABF6D945102C}"/>
              </a:ext>
            </a:extLst>
          </p:cNvPr>
          <p:cNvSpPr txBox="1"/>
          <p:nvPr/>
        </p:nvSpPr>
        <p:spPr>
          <a:xfrm>
            <a:off x="73152" y="1097280"/>
            <a:ext cx="54132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400" b="1" dirty="0">
                <a:solidFill>
                  <a:srgbClr val="4B2E2E"/>
                </a:solidFill>
              </a:rPr>
              <a:t>Weekday Footfall</a:t>
            </a:r>
            <a:endParaRPr lang="en-IN" sz="5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D835DA-D4F6-CF3B-9EA3-D5B9989CF54B}"/>
              </a:ext>
            </a:extLst>
          </p:cNvPr>
          <p:cNvSpPr txBox="1"/>
          <p:nvPr/>
        </p:nvSpPr>
        <p:spPr>
          <a:xfrm>
            <a:off x="73152" y="2885473"/>
            <a:ext cx="11786616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Footfall is steady across weekdays (21K+ daily), slightly lower on weekends. </a:t>
            </a:r>
          </a:p>
          <a:p>
            <a:r>
              <a:rPr lang="en-US" sz="2800" dirty="0">
                <a:solidFill>
                  <a:schemeClr val="bg1"/>
                </a:solidFill>
              </a:rPr>
              <a:t> </a:t>
            </a:r>
          </a:p>
          <a:p>
            <a:r>
              <a:rPr lang="en-US" sz="3600" b="1" dirty="0">
                <a:solidFill>
                  <a:srgbClr val="4B2E2E"/>
                </a:solidFill>
              </a:rPr>
              <a:t>Insight</a:t>
            </a:r>
            <a:r>
              <a:rPr lang="en-US" sz="2800" dirty="0">
                <a:solidFill>
                  <a:schemeClr val="bg1"/>
                </a:solidFill>
              </a:rPr>
              <a:t>: Consistent customer engagement during workdays.</a:t>
            </a:r>
          </a:p>
          <a:p>
            <a:r>
              <a:rPr lang="en-US" sz="2800" dirty="0">
                <a:solidFill>
                  <a:schemeClr val="bg1"/>
                </a:solidFill>
              </a:rPr>
              <a:t>  </a:t>
            </a:r>
          </a:p>
          <a:p>
            <a:r>
              <a:rPr lang="en-US" sz="3600" b="1" dirty="0">
                <a:solidFill>
                  <a:srgbClr val="4B2E2E"/>
                </a:solidFill>
              </a:rPr>
              <a:t>Recommendation</a:t>
            </a:r>
            <a:r>
              <a:rPr lang="en-US" sz="2800" dirty="0">
                <a:solidFill>
                  <a:schemeClr val="bg1"/>
                </a:solidFill>
              </a:rPr>
              <a:t>: Weekend promotions to boost traffic.</a:t>
            </a:r>
          </a:p>
          <a:p>
            <a:endParaRPr lang="en-IN" sz="2800" dirty="0">
              <a:solidFill>
                <a:schemeClr val="bg1"/>
              </a:solidFill>
            </a:endParaRP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4082661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5000">
        <p:fade/>
      </p:transition>
    </mc:Choice>
    <mc:Fallback xmlns="">
      <p:transition spd="med" advClick="0" advTm="5000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6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6A30A54-743F-FE8B-A173-DD5F95EFE7EF}"/>
              </a:ext>
            </a:extLst>
          </p:cNvPr>
          <p:cNvSpPr txBox="1"/>
          <p:nvPr/>
        </p:nvSpPr>
        <p:spPr>
          <a:xfrm>
            <a:off x="0" y="0"/>
            <a:ext cx="121920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I built a dashboard to explore sales patterns for a coffee shop. It showed morning hours as the peak sales window, coffee as the primary revenue driver, and Hell’s Kitchen as the top‑performing store. I used Excel charts and PivotTables, then applied storytelling techniques to make the findings actionable. I enjoyed discovering the steady weekday footfall — it helped me prioritize staffing and promotions for slow afternoons.</a:t>
            </a:r>
          </a:p>
          <a:p>
            <a:endParaRPr lang="en-IN" i="1" dirty="0">
              <a:solidFill>
                <a:schemeClr val="bg1">
                  <a:lumMod val="95000"/>
                  <a:lumOff val="5000"/>
                </a:schemeClr>
              </a:solidFill>
            </a:endParaRPr>
          </a:p>
          <a:p>
            <a:r>
              <a:rPr lang="en-IN" i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Dashboard Highlights:</a:t>
            </a:r>
          </a:p>
          <a:p>
            <a:endParaRPr lang="en-IN" i="1" dirty="0">
              <a:solidFill>
                <a:schemeClr val="bg1">
                  <a:lumMod val="95000"/>
                  <a:lumOff val="5000"/>
                </a:schemeClr>
              </a:solidFill>
            </a:endParaRPr>
          </a:p>
          <a:p>
            <a:pPr marL="285750" indent="-285750">
              <a:buFontTx/>
              <a:buChar char="-"/>
            </a:pPr>
            <a:r>
              <a:rPr lang="en-US" i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Morning hours as peak sales.     </a:t>
            </a:r>
          </a:p>
          <a:p>
            <a:r>
              <a:rPr lang="en-US" i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                                           </a:t>
            </a:r>
          </a:p>
          <a:p>
            <a:pPr marL="285750" indent="-285750">
              <a:buFontTx/>
              <a:buChar char="-"/>
            </a:pPr>
            <a:r>
              <a:rPr lang="en-US" i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Coffee as the dominant revenue category.</a:t>
            </a:r>
          </a:p>
          <a:p>
            <a:endParaRPr lang="en-US" i="1" dirty="0">
              <a:solidFill>
                <a:schemeClr val="bg1">
                  <a:lumMod val="95000"/>
                  <a:lumOff val="5000"/>
                </a:schemeClr>
              </a:solidFill>
            </a:endParaRPr>
          </a:p>
          <a:p>
            <a:pPr marL="285750" indent="-285750">
              <a:buFontTx/>
              <a:buChar char="-"/>
            </a:pPr>
            <a:r>
              <a:rPr lang="en-US" i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Hell’s Kitchen store leading in performance.</a:t>
            </a:r>
          </a:p>
          <a:p>
            <a:endParaRPr lang="en-US" i="1" dirty="0">
              <a:solidFill>
                <a:schemeClr val="bg1">
                  <a:lumMod val="95000"/>
                  <a:lumOff val="5000"/>
                </a:schemeClr>
              </a:solidFill>
            </a:endParaRPr>
          </a:p>
          <a:p>
            <a:pPr marL="285750" indent="-285750">
              <a:buFontTx/>
              <a:buChar char="-"/>
            </a:pPr>
            <a:r>
              <a:rPr lang="en-US" i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Barista Espresso as the top product.</a:t>
            </a:r>
          </a:p>
          <a:p>
            <a:endParaRPr lang="en-IN" i="1" dirty="0">
              <a:solidFill>
                <a:schemeClr val="bg1">
                  <a:lumMod val="95000"/>
                  <a:lumOff val="5000"/>
                </a:schemeClr>
              </a:solidFill>
            </a:endParaRPr>
          </a:p>
          <a:p>
            <a:endParaRPr lang="en-IN" i="1" dirty="0">
              <a:solidFill>
                <a:schemeClr val="bg1">
                  <a:lumMod val="95000"/>
                  <a:lumOff val="5000"/>
                </a:schemeClr>
              </a:solidFill>
            </a:endParaRPr>
          </a:p>
          <a:p>
            <a:endParaRPr lang="en-IN" i="1" dirty="0">
              <a:solidFill>
                <a:schemeClr val="bg1">
                  <a:lumMod val="95000"/>
                  <a:lumOff val="5000"/>
                </a:schemeClr>
              </a:solidFill>
            </a:endParaRPr>
          </a:p>
          <a:p>
            <a:r>
              <a:rPr lang="en-IN" i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This project strengthened my Excel and storytelling skills for business decisions.</a:t>
            </a:r>
          </a:p>
        </p:txBody>
      </p:sp>
    </p:spTree>
    <p:extLst>
      <p:ext uri="{BB962C8B-B14F-4D97-AF65-F5344CB8AC3E}">
        <p14:creationId xmlns:p14="http://schemas.microsoft.com/office/powerpoint/2010/main" val="5563726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593</TotalTime>
  <Words>470</Words>
  <Application>Microsoft Office PowerPoint</Application>
  <PresentationFormat>Widescreen</PresentationFormat>
  <Paragraphs>82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alikhan7415916@outlook.com</dc:creator>
  <cp:lastModifiedBy>alikhan7415916@outlook.com</cp:lastModifiedBy>
  <cp:revision>1</cp:revision>
  <dcterms:created xsi:type="dcterms:W3CDTF">2026-06-16T06:22:59Z</dcterms:created>
  <dcterms:modified xsi:type="dcterms:W3CDTF">2026-06-22T09:54:58Z</dcterms:modified>
</cp:coreProperties>
</file>